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FINPREMIUM · WEALTH OS · APRESENTAÇÃO · 07 AGO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3F6FB"/>
                </a:solidFill>
                <a:latin typeface="Calibri"/>
              </a:rPr>
              <a:t>Do lead ao plano: 4 personas no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8C2"/>
                </a:solidFill>
                <a:latin typeface="Calibri"/>
              </a:rPr>
              <a:t>Jornadas validadas ponta a ponta — funil, onboarding, orçamento, dívidas, crédito BACEN e WhatsApp como canal opcional.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CE0A0"/>
                </a:solidFill>
                <a:latin typeface="Calibri"/>
              </a:rPr>
              <a:t>4/4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8C2"/>
                </a:solidFill>
                <a:latin typeface="Calibri"/>
              </a:rPr>
              <a:t>Personas 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CE0A0"/>
                </a:solidFill>
                <a:latin typeface="Calibri"/>
              </a:rPr>
              <a:t>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4846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8C2"/>
                </a:solidFill>
                <a:latin typeface="Calibri"/>
              </a:rPr>
              <a:t>Etapas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CE0A0"/>
                </a:solidFill>
                <a:latin typeface="Calibri"/>
              </a:rPr>
              <a:t>742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846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8C2"/>
                </a:solidFill>
                <a:latin typeface="Calibri"/>
              </a:rP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4206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5CE0A0"/>
                </a:solidFill>
                <a:latin typeface="Calibri"/>
              </a:rPr>
              <a:t>SCR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8463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8C2"/>
                </a:solidFill>
                <a:latin typeface="Calibri"/>
              </a:rPr>
              <a:t>Importa pro plano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FinPremium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O PRODUTO EM UMA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Wealth OS pessoal, dark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E87"/>
                </a:solidFill>
                <a:latin typeface="Calibri"/>
              </a:rPr>
              <a:t>Organizar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8C2"/>
                </a:solidFill>
                <a:latin typeface="Calibri"/>
              </a:rPr>
              <a:t>Dashboard, lançamentos, 50/30/20 e WhatsApp (texto, foto, áudio).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E87"/>
                </a:solidFill>
                <a:latin typeface="Calibri"/>
              </a:rPr>
              <a:t>Quitar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5603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8C2"/>
                </a:solidFill>
                <a:latin typeface="Calibri"/>
              </a:rPr>
              <a:t>Dívidas snowball/avalanche + Análise de Crédito (score + SCR).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CE87"/>
                </a:solidFill>
                <a:latin typeface="Calibri"/>
              </a:rPr>
              <a:t>Crescer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5603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8C2"/>
                </a:solidFill>
                <a:latin typeface="Calibri"/>
              </a:rPr>
              <a:t>Metas, Número da Liberdade (FIRE) e Projeção de caixa.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8C2"/>
                </a:solidFill>
                <a:latin typeface="Calibri"/>
              </a:rPr>
              <a:t>Pagamento único lifetime · funil landing + calculadora · app autenticado.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Produto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Quatro personas, quatro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Calibri"/>
              </a:rPr>
              <a:t>Ana Souza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D6C6"/>
                </a:solidFill>
                <a:latin typeface="Calibri"/>
              </a:rPr>
              <a:t>Endividada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R$ 4.200 · sair das dívidas · crédito SCR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Calibri"/>
              </a:rPr>
              <a:t>Bruno Lima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D6C6"/>
                </a:solidFill>
                <a:latin typeface="Calibri"/>
              </a:rPr>
              <a:t>Investidor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2926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R$ 12.500 · reserva + FIRE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Calibri"/>
              </a:rPr>
              <a:t>Carla Mendes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D6C6"/>
                </a:solidFill>
                <a:latin typeface="Calibri"/>
              </a:rPr>
              <a:t>Freelancer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R$ 6.800 · organizar fluxo 50/30/20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59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Calibri"/>
              </a:rPr>
              <a:t>Diego Rocha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D6C6"/>
                </a:solidFill>
                <a:latin typeface="Calibri"/>
              </a:rPr>
              <a:t>Premium crédito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92608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R$ 9.800 · score/SCR → plano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Personas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JORNADA COMUM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Pipeline que todas percorrem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F6FB"/>
                </a:solidFill>
                <a:latin typeface="Calibri"/>
              </a:rPr>
              <a:t>OK  Lead (calculadora ou venda) — site ou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F6FB"/>
                </a:solidFill>
                <a:latin typeface="Calibri"/>
              </a:rPr>
              <a:t>OK  Cadastro + CPF + sessão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F6FB"/>
                </a:solidFill>
                <a:latin typeface="Calibri"/>
              </a:rPr>
              <a:t>OK  Onboarding: renda → objetivo → dívida (máscara pt-BR)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F6FB"/>
                </a:solidFill>
                <a:latin typeface="Calibri"/>
              </a:rPr>
              <a:t>OK  Lançamentos 50/30/20 +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F6FB"/>
                </a:solidFill>
                <a:latin typeface="Calibri"/>
              </a:rPr>
              <a:t>OK  Crédito (opcional): consulta → relatório → import SCR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F6FB"/>
                </a:solidFill>
                <a:latin typeface="Calibri"/>
              </a:rPr>
              <a:t>OK  Plano atualizado (dívidas, metas, curva)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Etapas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PERSONA 01 · ANA SOUZA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Endividada — do caos ao plano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A8C2"/>
                </a:solidFill>
                <a:latin typeface="Calibri"/>
              </a:rPr>
              <a:t>Job: sair do vermelho com clareza de parcelas e juros.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Renda R$ 4.200 · objetivo quitar dívidas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Onboarding com máscara R$ / % / meses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Dashboard: foco dívidas + sobra após parcelas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Crédito → score 742 · rating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Import SCR R$ 18.450 · meta sincronizada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CE0A0"/>
                </a:solidFill>
                <a:latin typeface="Calibri"/>
              </a:rPr>
              <a:t>19/19 etapas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8346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Demo: onboarding → dashboard → Controle de Dívidas.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PERSONA 02 · BRUNO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Investidor — reserva + FIRE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Renda R$ 12.500 · liberdade financeira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Carro R$ 28k + reserva R$ 37,5k (R$ 12k atual)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Meta liberdade R$ 1,5M (R$ 85k atual)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FIRE: 8% a.a. / SWR 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11/11 etapas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Bruno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PERSONA 03 · CARLA MENDES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Freelancer — organizar o fluxo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Renda R$ 6.800 · organizar gastos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Colchão 3 meses (R$ 4.100 / R$ 20.400)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5 lançamentos nas 3 categorias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Orçamento 50/30/20 planejado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13/13 etapas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Carla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PERSONA 04 · DIEGO ROCHA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Premium — crédito vira plano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Consulta inclusa no plano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Score 742 · rating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Import SCR → dívidas + creditInsight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Curva de vencimentos na Projeção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19/19 etapas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Diego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CANAL OPCIONAL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Lead escolhe: site ou WhatsApp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Calibri"/>
              </a:rPr>
              <a:t>Calculadora / venda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CTA Continuar no site ou Começar pelo WhatsApp.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Calibri"/>
              </a:rPr>
              <a:t>Mensagem pronta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wa.me com aporte, prazo e patrimônio preenchidos.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Calibri"/>
              </a:rPr>
              <a:t>No app (cliente)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468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Texto, foto ou áudio via Twilio — já no GitHub.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3F6FB"/>
                </a:solidFill>
                <a:latin typeface="Calibri"/>
              </a:rPr>
              <a:t>OK  WhatsApp alimenta dados; o Wealth OS continua no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3F6FB"/>
                </a:solidFill>
                <a:latin typeface="Calibri"/>
              </a:rPr>
              <a:t>OK  Lead WA sem e-mail não entra no drip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3F6FB"/>
                </a:solidFill>
                <a:latin typeface="Calibri"/>
              </a:rPr>
              <a:t>OK  MVP de teste: porta aberta, não chatbot 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DIFERENCIAL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Análise de Crédito fecha o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CPF vinculado à conta (LGPD / set-once)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Quote por APIs (score, SCR, pendências…)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Checkout incluso ou Stripe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Relatório → Importar para o meu plano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Dívidas SCR + meta + curva na Projeção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Crédito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RESULTADOS DA RODADA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E0A0"/>
                </a:solidFill>
                <a:latin typeface="Calibri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Pass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1031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E0A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Imports SCR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E0A0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Lançamentos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1031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E0A0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834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Falhas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8C2"/>
                </a:solidFill>
                <a:latin typeface="Calibri"/>
              </a:rPr>
              <a:t>Etapas: Ana 19 · Bruno 11 · Carla 13 · Diego 19</a:t>
            </a:r>
            <a:br/>
            <a:r>
              <a:t>Relatório: test_reports/personas/latest.json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Scorecard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ROTEIRO AO VIVO · ~8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O que mostrar amanhã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6FB"/>
                </a:solidFill>
                <a:latin typeface="Calibri"/>
              </a:rPr>
              <a:t>1. Landing (30s)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8C2"/>
                </a:solidFill>
                <a:latin typeface="Calibri"/>
              </a:rPr>
              <a:t>Ver planos + Começar no 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6FB"/>
                </a:solidFill>
                <a:latin typeface="Calibri"/>
              </a:rPr>
              <a:t>2. Calculadora (1m)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8C2"/>
                </a:solidFill>
                <a:latin typeface="Calibri"/>
              </a:rPr>
              <a:t>Resultado → escolha site vs 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6FB"/>
                </a:solidFill>
                <a:latin typeface="Calibri"/>
              </a:rPr>
              <a:t>3. Onboarding Ana (2m)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971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8C2"/>
                </a:solidFill>
                <a:latin typeface="Calibri"/>
              </a:rPr>
              <a:t>Renda/dívida com máscara R$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118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6FB"/>
                </a:solidFill>
                <a:latin typeface="Calibri"/>
              </a:rPr>
              <a:t>4. Dashboard (1m)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6118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8C2"/>
                </a:solidFill>
                <a:latin typeface="Calibri"/>
              </a:rPr>
              <a:t>Foco dívidas + sobra após parcelas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6FB"/>
                </a:solidFill>
                <a:latin typeface="Calibri"/>
              </a:rPr>
              <a:t>5. Crédito (2m)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251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8C2"/>
                </a:solidFill>
                <a:latin typeface="Calibri"/>
              </a:rPr>
              <a:t>Relatório / import SCR (mock se preciso)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92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3F6FB"/>
                </a:solidFill>
                <a:latin typeface="Calibri"/>
              </a:rPr>
              <a:t>6. Dívidas/Projeção (1m)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892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8C2"/>
                </a:solidFill>
                <a:latin typeface="Calibri"/>
              </a:rPr>
              <a:t>Simulador ou curva SCR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ANTES DE ABRIR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Checklist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Calibri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Atlas OK ou USE_MOCK_DB=1 + CREDIT_PROVIDER=mock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5603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localhost:3000 → API local; máscaras já no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9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3F6FB"/>
                </a:solidFill>
                <a:latin typeface="Calibri"/>
              </a:rPr>
              <a:t>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256032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8C2"/>
                </a:solidFill>
                <a:latin typeface="Calibri"/>
              </a:rPr>
              <a:t>LEAD_WHATSAPP_E164 com número BR real se for clicar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F6FB"/>
                </a:solidFill>
                <a:latin typeface="Calibri"/>
              </a:rPr>
              <a:t>OK  Não depender de Direct Data ao vivo se crédito estiver no limite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3F6FB"/>
                </a:solidFill>
                <a:latin typeface="Calibri"/>
              </a:rPr>
              <a:t>OK  Conta demo Ana pronta (ou recriar em 1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Prep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Calibri"/>
              </a:rP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3F6FB"/>
                </a:solidFill>
                <a:latin typeface="Calibri"/>
              </a:rPr>
              <a:t>O que já prova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Personas reais percorrem o funil até o plano financeiro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Crédito BACEN não é relatório morto — vira dívida e projeção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WhatsApp é porta opcional, não substituto do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3F6FB"/>
                </a:solidFill>
                <a:latin typeface="Calibri"/>
              </a:rPr>
              <a:t>OK  Próximo: conversa WA mais rica + SCR com modalidades sempre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CE87"/>
                </a:solidFill>
                <a:latin typeface="Calibri"/>
              </a:rPr>
              <a:t>Arquivos: apresentacoes/personas-finpremium.pptx e 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A8C2"/>
                </a:solidFill>
                <a:latin typeface="Calibri"/>
              </a:rPr>
              <a:t>Obrigado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AA8C2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